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4" d="100"/>
          <a:sy n="94" d="100"/>
        </p:scale>
        <p:origin x="6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CAF6-FD14-2C86-8BA4-66AFB2F8E905}"/>
              </a:ext>
            </a:extLst>
          </p:cNvPr>
          <p:cNvSpPr>
            <a:spLocks noGrp="1"/>
          </p:cNvSpPr>
          <p:nvPr>
            <p:ph type="ctrTitle"/>
          </p:nvPr>
        </p:nvSpPr>
        <p:spPr>
          <a:xfrm>
            <a:off x="697653" y="1122363"/>
            <a:ext cx="10383520" cy="1655762"/>
          </a:xfrm>
        </p:spPr>
        <p:txBody>
          <a:bodyPr/>
          <a:lstStyle/>
          <a:p>
            <a:r>
              <a:rPr lang="en-US" dirty="0"/>
              <a:t>Database System Concepts and Architecture</a:t>
            </a:r>
          </a:p>
        </p:txBody>
      </p:sp>
      <p:sp>
        <p:nvSpPr>
          <p:cNvPr id="3" name="Subtitle 2">
            <a:extLst>
              <a:ext uri="{FF2B5EF4-FFF2-40B4-BE49-F238E27FC236}">
                <a16:creationId xmlns:a16="http://schemas.microsoft.com/office/drawing/2014/main" id="{2B96B5FE-D819-0A60-7E08-0D444D8700DC}"/>
              </a:ext>
            </a:extLst>
          </p:cNvPr>
          <p:cNvSpPr>
            <a:spLocks noGrp="1"/>
          </p:cNvSpPr>
          <p:nvPr>
            <p:ph type="subTitle" idx="1"/>
          </p:nvPr>
        </p:nvSpPr>
        <p:spPr/>
        <p:txBody>
          <a:bodyPr>
            <a:normAutofit/>
          </a:bodyPr>
          <a:lstStyle/>
          <a:p>
            <a:r>
              <a:rPr lang="en-US" sz="3600" dirty="0"/>
              <a:t>LECTURE TWO</a:t>
            </a:r>
          </a:p>
        </p:txBody>
      </p:sp>
    </p:spTree>
    <p:extLst>
      <p:ext uri="{BB962C8B-B14F-4D97-AF65-F5344CB8AC3E}">
        <p14:creationId xmlns:p14="http://schemas.microsoft.com/office/powerpoint/2010/main" val="3428484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B6A2-C3AB-24FF-CFED-BFAFBB2FB5F7}"/>
              </a:ext>
            </a:extLst>
          </p:cNvPr>
          <p:cNvSpPr>
            <a:spLocks noGrp="1"/>
          </p:cNvSpPr>
          <p:nvPr>
            <p:ph type="title"/>
          </p:nvPr>
        </p:nvSpPr>
        <p:spPr>
          <a:xfrm>
            <a:off x="913795" y="230293"/>
            <a:ext cx="10353761" cy="1009228"/>
          </a:xfrm>
        </p:spPr>
        <p:txBody>
          <a:bodyPr/>
          <a:lstStyle/>
          <a:p>
            <a:r>
              <a:rPr lang="en-US" dirty="0"/>
              <a:t>INTODUCTION</a:t>
            </a:r>
          </a:p>
        </p:txBody>
      </p:sp>
      <p:sp>
        <p:nvSpPr>
          <p:cNvPr id="3" name="Content Placeholder 2">
            <a:extLst>
              <a:ext uri="{FF2B5EF4-FFF2-40B4-BE49-F238E27FC236}">
                <a16:creationId xmlns:a16="http://schemas.microsoft.com/office/drawing/2014/main" id="{3A6471E2-382E-B398-8C96-55867C5C457B}"/>
              </a:ext>
            </a:extLst>
          </p:cNvPr>
          <p:cNvSpPr>
            <a:spLocks noGrp="1"/>
          </p:cNvSpPr>
          <p:nvPr>
            <p:ph idx="1"/>
          </p:nvPr>
        </p:nvSpPr>
        <p:spPr>
          <a:xfrm>
            <a:off x="596053" y="1679787"/>
            <a:ext cx="11277600" cy="4111413"/>
          </a:xfrm>
        </p:spPr>
        <p:txBody>
          <a:bodyPr>
            <a:normAutofit lnSpcReduction="10000"/>
          </a:bodyPr>
          <a:lstStyle/>
          <a:p>
            <a:r>
              <a:rPr lang="en-US" dirty="0"/>
              <a:t>The architecture of DBMS packages has evolved from the </a:t>
            </a:r>
            <a:r>
              <a:rPr lang="en-US"/>
              <a:t>early systems</a:t>
            </a:r>
            <a:r>
              <a:rPr lang="en-US" dirty="0"/>
              <a:t>, where the whole DBMS software package was one tightly integrated system, to the modern DBMS packages that are modular in design, with a client/server system architecture. </a:t>
            </a:r>
          </a:p>
          <a:p>
            <a:endParaRPr lang="en-US" dirty="0"/>
          </a:p>
          <a:p>
            <a:r>
              <a:rPr lang="en-US" dirty="0"/>
              <a:t>The recent growth in the amount of data requiring storage has led to database systems with distributed architectures comprised of thousands of computers that manage the data stores.</a:t>
            </a:r>
          </a:p>
          <a:p>
            <a:endParaRPr lang="en-US" dirty="0"/>
          </a:p>
          <a:p>
            <a:r>
              <a:rPr lang="en-US" dirty="0"/>
              <a:t>This evolution mirrors the trends in computing, where large centralized mainframe computers are replaced by hundreds of distributed workstations and personal computers connected via communications networks to various types of server machines—</a:t>
            </a:r>
          </a:p>
        </p:txBody>
      </p:sp>
    </p:spTree>
    <p:extLst>
      <p:ext uri="{BB962C8B-B14F-4D97-AF65-F5344CB8AC3E}">
        <p14:creationId xmlns:p14="http://schemas.microsoft.com/office/powerpoint/2010/main" val="102364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33C2D-C153-233E-F788-082F0B8AB1E3}"/>
              </a:ext>
            </a:extLst>
          </p:cNvPr>
          <p:cNvSpPr>
            <a:spLocks noGrp="1"/>
          </p:cNvSpPr>
          <p:nvPr>
            <p:ph type="title"/>
          </p:nvPr>
        </p:nvSpPr>
        <p:spPr>
          <a:xfrm>
            <a:off x="913795" y="270934"/>
            <a:ext cx="10353761" cy="948266"/>
          </a:xfrm>
        </p:spPr>
        <p:txBody>
          <a:bodyPr/>
          <a:lstStyle/>
          <a:p>
            <a:r>
              <a:rPr lang="en-US" dirty="0"/>
              <a:t>Data Models, Schemas, and Instances</a:t>
            </a:r>
          </a:p>
        </p:txBody>
      </p:sp>
      <p:sp>
        <p:nvSpPr>
          <p:cNvPr id="3" name="Content Placeholder 2">
            <a:extLst>
              <a:ext uri="{FF2B5EF4-FFF2-40B4-BE49-F238E27FC236}">
                <a16:creationId xmlns:a16="http://schemas.microsoft.com/office/drawing/2014/main" id="{D19C0D18-D5C4-4C3A-95E9-326344233D18}"/>
              </a:ext>
            </a:extLst>
          </p:cNvPr>
          <p:cNvSpPr>
            <a:spLocks noGrp="1"/>
          </p:cNvSpPr>
          <p:nvPr>
            <p:ph idx="1"/>
          </p:nvPr>
        </p:nvSpPr>
        <p:spPr>
          <a:xfrm>
            <a:off x="913795" y="1408853"/>
            <a:ext cx="10353762" cy="4951307"/>
          </a:xfrm>
        </p:spPr>
        <p:txBody>
          <a:bodyPr/>
          <a:lstStyle/>
          <a:p>
            <a:pPr marL="0" indent="0">
              <a:buNone/>
            </a:pPr>
            <a:r>
              <a:rPr lang="en-US" dirty="0"/>
              <a:t>One fundamental characteristic of the database approach is that it provides some level of data abstraction. </a:t>
            </a:r>
          </a:p>
          <a:p>
            <a:r>
              <a:rPr lang="en-US" dirty="0"/>
              <a:t>Data abstraction generally refers to the suppression of details of data organization and storage, and the highlighting of the essential features for an improved understanding of data.</a:t>
            </a:r>
          </a:p>
          <a:p>
            <a:r>
              <a:rPr lang="en-US" dirty="0"/>
              <a:t>A data model is a collection of concepts that can be used to describe the structure of a database provides the necessary means to achieve this abstraction.</a:t>
            </a:r>
          </a:p>
          <a:p>
            <a:pPr marL="0" indent="0">
              <a:buNone/>
            </a:pPr>
            <a:r>
              <a:rPr lang="en-US" dirty="0"/>
              <a:t>The  structure of a database refers to the data types, relationships, and constraints that apply to the data. </a:t>
            </a:r>
          </a:p>
        </p:txBody>
      </p:sp>
    </p:spTree>
    <p:extLst>
      <p:ext uri="{BB962C8B-B14F-4D97-AF65-F5344CB8AC3E}">
        <p14:creationId xmlns:p14="http://schemas.microsoft.com/office/powerpoint/2010/main" val="563966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13D8-878B-A0FC-7BE7-18628CD26E33}"/>
              </a:ext>
            </a:extLst>
          </p:cNvPr>
          <p:cNvSpPr>
            <a:spLocks noGrp="1"/>
          </p:cNvSpPr>
          <p:nvPr>
            <p:ph type="title"/>
          </p:nvPr>
        </p:nvSpPr>
        <p:spPr>
          <a:xfrm>
            <a:off x="913795" y="264161"/>
            <a:ext cx="10353761" cy="751840"/>
          </a:xfrm>
        </p:spPr>
        <p:txBody>
          <a:bodyPr/>
          <a:lstStyle/>
          <a:p>
            <a:r>
              <a:rPr lang="en-US" dirty="0"/>
              <a:t>Categories of Data Models</a:t>
            </a:r>
          </a:p>
        </p:txBody>
      </p:sp>
      <p:sp>
        <p:nvSpPr>
          <p:cNvPr id="3" name="Content Placeholder 2">
            <a:extLst>
              <a:ext uri="{FF2B5EF4-FFF2-40B4-BE49-F238E27FC236}">
                <a16:creationId xmlns:a16="http://schemas.microsoft.com/office/drawing/2014/main" id="{82CEF97F-F805-8C19-E959-B85C7DDDBC37}"/>
              </a:ext>
            </a:extLst>
          </p:cNvPr>
          <p:cNvSpPr>
            <a:spLocks noGrp="1"/>
          </p:cNvSpPr>
          <p:nvPr>
            <p:ph idx="1"/>
          </p:nvPr>
        </p:nvSpPr>
        <p:spPr>
          <a:xfrm>
            <a:off x="913795" y="1314027"/>
            <a:ext cx="10353762" cy="4890346"/>
          </a:xfrm>
        </p:spPr>
        <p:txBody>
          <a:bodyPr>
            <a:normAutofit fontScale="92500" lnSpcReduction="20000"/>
          </a:bodyPr>
          <a:lstStyle/>
          <a:p>
            <a:pPr marL="0" indent="0">
              <a:buNone/>
            </a:pPr>
            <a:r>
              <a:rPr lang="en-US" dirty="0"/>
              <a:t>Many data models have been proposed, which we can categorize according to the types of concepts they use to describe the database structure. </a:t>
            </a:r>
          </a:p>
          <a:p>
            <a:r>
              <a:rPr lang="en-US" u="sng" dirty="0"/>
              <a:t>High-level or conceptual data models </a:t>
            </a:r>
            <a:r>
              <a:rPr lang="en-US" dirty="0"/>
              <a:t>provide concepts that are close to the way many users perceive data.</a:t>
            </a:r>
          </a:p>
          <a:p>
            <a:endParaRPr lang="en-US" dirty="0"/>
          </a:p>
          <a:p>
            <a:pPr marL="0" indent="0">
              <a:buNone/>
            </a:pPr>
            <a:r>
              <a:rPr lang="en-US" dirty="0"/>
              <a:t>Conceptual data models use concepts such as entities, attributes, and relationships. </a:t>
            </a:r>
          </a:p>
          <a:p>
            <a:r>
              <a:rPr lang="en-US" dirty="0"/>
              <a:t>An entity represents a real-world object or concept, such as an employee or a project from </a:t>
            </a:r>
            <a:r>
              <a:rPr lang="en-US"/>
              <a:t>the mini-world </a:t>
            </a:r>
            <a:r>
              <a:rPr lang="en-US" dirty="0"/>
              <a:t>that is described in the database. </a:t>
            </a:r>
          </a:p>
          <a:p>
            <a:endParaRPr lang="en-US" dirty="0"/>
          </a:p>
          <a:p>
            <a:r>
              <a:rPr lang="en-US" dirty="0"/>
              <a:t>An attribute represents some property of interest that further describes an entity, such as the employee’s name or salary.</a:t>
            </a:r>
          </a:p>
          <a:p>
            <a:endParaRPr lang="en-US" dirty="0"/>
          </a:p>
          <a:p>
            <a:r>
              <a:rPr lang="en-US" dirty="0"/>
              <a:t> A relationship among two or more entities represents an association among the entities.</a:t>
            </a:r>
          </a:p>
        </p:txBody>
      </p:sp>
    </p:spTree>
    <p:extLst>
      <p:ext uri="{BB962C8B-B14F-4D97-AF65-F5344CB8AC3E}">
        <p14:creationId xmlns:p14="http://schemas.microsoft.com/office/powerpoint/2010/main" val="3132668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54A9-40F0-ACF6-6331-F00743C6EBA7}"/>
              </a:ext>
            </a:extLst>
          </p:cNvPr>
          <p:cNvSpPr>
            <a:spLocks noGrp="1"/>
          </p:cNvSpPr>
          <p:nvPr>
            <p:ph type="title"/>
          </p:nvPr>
        </p:nvSpPr>
        <p:spPr>
          <a:xfrm>
            <a:off x="913795" y="216748"/>
            <a:ext cx="10353761" cy="745065"/>
          </a:xfrm>
        </p:spPr>
        <p:txBody>
          <a:bodyPr/>
          <a:lstStyle/>
          <a:p>
            <a:r>
              <a:rPr lang="en-US" dirty="0"/>
              <a:t>Categories of Data Models</a:t>
            </a:r>
          </a:p>
        </p:txBody>
      </p:sp>
      <p:sp>
        <p:nvSpPr>
          <p:cNvPr id="3" name="Content Placeholder 2">
            <a:extLst>
              <a:ext uri="{FF2B5EF4-FFF2-40B4-BE49-F238E27FC236}">
                <a16:creationId xmlns:a16="http://schemas.microsoft.com/office/drawing/2014/main" id="{89FAF45B-A8C2-E51B-5DED-7067686A8860}"/>
              </a:ext>
            </a:extLst>
          </p:cNvPr>
          <p:cNvSpPr>
            <a:spLocks noGrp="1"/>
          </p:cNvSpPr>
          <p:nvPr>
            <p:ph idx="1"/>
          </p:nvPr>
        </p:nvSpPr>
        <p:spPr>
          <a:xfrm>
            <a:off x="913795" y="1158239"/>
            <a:ext cx="10353762" cy="5073227"/>
          </a:xfrm>
        </p:spPr>
        <p:txBody>
          <a:bodyPr>
            <a:normAutofit lnSpcReduction="10000"/>
          </a:bodyPr>
          <a:lstStyle/>
          <a:p>
            <a:r>
              <a:rPr lang="en-US" u="sng" dirty="0"/>
              <a:t>Low-level or physical data models </a:t>
            </a:r>
            <a:r>
              <a:rPr lang="en-US" dirty="0"/>
              <a:t>provide concepts that describe the details of how data is stored on the computer storage media, typically magnetic disks.</a:t>
            </a:r>
          </a:p>
          <a:p>
            <a:endParaRPr lang="en-US" dirty="0"/>
          </a:p>
          <a:p>
            <a:pPr marL="0" indent="0">
              <a:buNone/>
            </a:pPr>
            <a:r>
              <a:rPr lang="en-US" dirty="0"/>
              <a:t> Concepts provided by physical data models are generally meant for computer specialists, not for end users.</a:t>
            </a:r>
          </a:p>
          <a:p>
            <a:pPr marL="0" indent="0">
              <a:buNone/>
            </a:pPr>
            <a:endParaRPr lang="en-US" dirty="0"/>
          </a:p>
          <a:p>
            <a:pPr marL="0" indent="0">
              <a:buNone/>
            </a:pPr>
            <a:r>
              <a:rPr lang="en-US" dirty="0"/>
              <a:t> Between these two extremes is a class of representational (or implementation) data models, which provide concepts that may be easily understood by end users but that are not too far removed from the way data is organized in computer storage.</a:t>
            </a:r>
          </a:p>
          <a:p>
            <a:pPr marL="0" indent="0">
              <a:buNone/>
            </a:pPr>
            <a:endParaRPr lang="en-US" dirty="0"/>
          </a:p>
          <a:p>
            <a:pPr marL="0" indent="0">
              <a:buNone/>
            </a:pPr>
            <a:r>
              <a:rPr lang="en-US" dirty="0"/>
              <a:t> Representational data models hide many details of data storage on disk but can be implemented on a computer system directly.</a:t>
            </a:r>
          </a:p>
        </p:txBody>
      </p:sp>
    </p:spTree>
    <p:extLst>
      <p:ext uri="{BB962C8B-B14F-4D97-AF65-F5344CB8AC3E}">
        <p14:creationId xmlns:p14="http://schemas.microsoft.com/office/powerpoint/2010/main" val="3431304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FCE30-05AF-379A-B0EB-93057FF2100B}"/>
              </a:ext>
            </a:extLst>
          </p:cNvPr>
          <p:cNvSpPr>
            <a:spLocks noGrp="1"/>
          </p:cNvSpPr>
          <p:nvPr>
            <p:ph type="title"/>
          </p:nvPr>
        </p:nvSpPr>
        <p:spPr>
          <a:xfrm>
            <a:off x="913795" y="230294"/>
            <a:ext cx="10353761" cy="968586"/>
          </a:xfrm>
        </p:spPr>
        <p:txBody>
          <a:bodyPr>
            <a:normAutofit fontScale="90000"/>
          </a:bodyPr>
          <a:lstStyle/>
          <a:p>
            <a:r>
              <a:rPr lang="en-US" dirty="0"/>
              <a:t>Schemas, Instances, and Database State</a:t>
            </a:r>
          </a:p>
        </p:txBody>
      </p:sp>
      <p:sp>
        <p:nvSpPr>
          <p:cNvPr id="3" name="Content Placeholder 2">
            <a:extLst>
              <a:ext uri="{FF2B5EF4-FFF2-40B4-BE49-F238E27FC236}">
                <a16:creationId xmlns:a16="http://schemas.microsoft.com/office/drawing/2014/main" id="{F503B256-DFDF-D76E-1A6B-13233AC46AEC}"/>
              </a:ext>
            </a:extLst>
          </p:cNvPr>
          <p:cNvSpPr>
            <a:spLocks noGrp="1"/>
          </p:cNvSpPr>
          <p:nvPr>
            <p:ph idx="1"/>
          </p:nvPr>
        </p:nvSpPr>
        <p:spPr>
          <a:xfrm>
            <a:off x="568960" y="1388533"/>
            <a:ext cx="10952480" cy="4924214"/>
          </a:xfrm>
        </p:spPr>
        <p:txBody>
          <a:bodyPr>
            <a:normAutofit fontScale="92500" lnSpcReduction="20000"/>
          </a:bodyPr>
          <a:lstStyle/>
          <a:p>
            <a:pPr marL="0" indent="0">
              <a:buNone/>
            </a:pPr>
            <a:r>
              <a:rPr lang="en-US" dirty="0"/>
              <a:t>In a data model, it is important to distinguish between the description of the database and the database itself. </a:t>
            </a:r>
          </a:p>
          <a:p>
            <a:pPr marL="0" indent="0">
              <a:buNone/>
            </a:pPr>
            <a:endParaRPr lang="en-US" dirty="0"/>
          </a:p>
          <a:p>
            <a:pPr marL="0" indent="0">
              <a:buNone/>
            </a:pPr>
            <a:r>
              <a:rPr lang="en-US" dirty="0"/>
              <a:t>The description of a database is called the database schema, which is specified during database design and is not expected to change frequently.</a:t>
            </a:r>
          </a:p>
          <a:p>
            <a:pPr marL="0" indent="0">
              <a:buNone/>
            </a:pPr>
            <a:endParaRPr lang="en-US" dirty="0"/>
          </a:p>
          <a:p>
            <a:pPr marL="0" indent="0">
              <a:buNone/>
            </a:pPr>
            <a:r>
              <a:rPr lang="en-US" dirty="0"/>
              <a:t>Most data models have certain conventions for displaying schemas as diagrams. A displayed schema is called a schema diagram. </a:t>
            </a:r>
          </a:p>
          <a:p>
            <a:pPr marL="0" indent="0">
              <a:buNone/>
            </a:pPr>
            <a:endParaRPr lang="en-US" dirty="0"/>
          </a:p>
          <a:p>
            <a:pPr marL="0" indent="0">
              <a:buNone/>
            </a:pPr>
            <a:r>
              <a:rPr lang="en-US" dirty="0"/>
              <a:t>We call each object in the schema a schema construct.</a:t>
            </a:r>
          </a:p>
          <a:p>
            <a:pPr marL="0" indent="0">
              <a:buNone/>
            </a:pPr>
            <a:endParaRPr lang="en-US" dirty="0"/>
          </a:p>
          <a:p>
            <a:pPr marL="0" indent="0">
              <a:buNone/>
            </a:pPr>
            <a:r>
              <a:rPr lang="en-US" dirty="0"/>
              <a:t>Figure 2.1 shows a schema diagram for the database shown in Figure 1.2; the diagram dis plays the structure of each record type but not the actual instances of records. </a:t>
            </a:r>
          </a:p>
        </p:txBody>
      </p:sp>
    </p:spTree>
    <p:extLst>
      <p:ext uri="{BB962C8B-B14F-4D97-AF65-F5344CB8AC3E}">
        <p14:creationId xmlns:p14="http://schemas.microsoft.com/office/powerpoint/2010/main" val="556385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534915-494F-0526-D6E3-9D3B1BB5A636}"/>
              </a:ext>
            </a:extLst>
          </p:cNvPr>
          <p:cNvPicPr>
            <a:picLocks noChangeAspect="1"/>
          </p:cNvPicPr>
          <p:nvPr/>
        </p:nvPicPr>
        <p:blipFill>
          <a:blip r:embed="rId2"/>
          <a:stretch>
            <a:fillRect/>
          </a:stretch>
        </p:blipFill>
        <p:spPr>
          <a:xfrm>
            <a:off x="128694" y="196427"/>
            <a:ext cx="11948160" cy="6461760"/>
          </a:xfrm>
          <a:prstGeom prst="rect">
            <a:avLst/>
          </a:prstGeom>
        </p:spPr>
      </p:pic>
    </p:spTree>
    <p:extLst>
      <p:ext uri="{BB962C8B-B14F-4D97-AF65-F5344CB8AC3E}">
        <p14:creationId xmlns:p14="http://schemas.microsoft.com/office/powerpoint/2010/main" val="4029984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CE60-D232-E627-41BE-6FA0A6BAF094}"/>
              </a:ext>
            </a:extLst>
          </p:cNvPr>
          <p:cNvSpPr>
            <a:spLocks noGrp="1"/>
          </p:cNvSpPr>
          <p:nvPr>
            <p:ph type="title"/>
          </p:nvPr>
        </p:nvSpPr>
        <p:spPr>
          <a:xfrm>
            <a:off x="568355" y="104988"/>
            <a:ext cx="11054685" cy="701040"/>
          </a:xfrm>
        </p:spPr>
        <p:txBody>
          <a:bodyPr>
            <a:normAutofit/>
          </a:bodyPr>
          <a:lstStyle/>
          <a:p>
            <a:r>
              <a:rPr lang="en-US" dirty="0"/>
              <a:t>Schemas, Instances, and Database State</a:t>
            </a:r>
          </a:p>
        </p:txBody>
      </p:sp>
      <p:sp>
        <p:nvSpPr>
          <p:cNvPr id="3" name="Content Placeholder 2">
            <a:extLst>
              <a:ext uri="{FF2B5EF4-FFF2-40B4-BE49-F238E27FC236}">
                <a16:creationId xmlns:a16="http://schemas.microsoft.com/office/drawing/2014/main" id="{55075720-6A24-9CF9-2D20-04B8E4169F1D}"/>
              </a:ext>
            </a:extLst>
          </p:cNvPr>
          <p:cNvSpPr>
            <a:spLocks noGrp="1"/>
          </p:cNvSpPr>
          <p:nvPr>
            <p:ph idx="1"/>
          </p:nvPr>
        </p:nvSpPr>
        <p:spPr>
          <a:xfrm>
            <a:off x="372532" y="1117600"/>
            <a:ext cx="11250507" cy="5635413"/>
          </a:xfrm>
        </p:spPr>
        <p:txBody>
          <a:bodyPr>
            <a:normAutofit fontScale="92500"/>
          </a:bodyPr>
          <a:lstStyle/>
          <a:p>
            <a:r>
              <a:rPr lang="en-US" dirty="0"/>
              <a:t>The distinction between database schema and database state is very important. When we define a new database, we specify its database schema only to the DBMS.</a:t>
            </a:r>
          </a:p>
          <a:p>
            <a:endParaRPr lang="en-US" dirty="0"/>
          </a:p>
          <a:p>
            <a:r>
              <a:rPr lang="en-US" dirty="0"/>
              <a:t> At this point, the corresponding database state is the empty state with no data. We get the initial state of the database when the database is first populated or loaded with the initial data. </a:t>
            </a:r>
          </a:p>
          <a:p>
            <a:endParaRPr lang="en-US" dirty="0"/>
          </a:p>
          <a:p>
            <a:r>
              <a:rPr lang="en-US" dirty="0"/>
              <a:t>From then on, every time an update operation is applied to the database, we get another database state. At any point in time, the database has a current state.</a:t>
            </a:r>
          </a:p>
          <a:p>
            <a:pPr marL="0" indent="0">
              <a:buNone/>
            </a:pPr>
            <a:endParaRPr lang="en-US" dirty="0"/>
          </a:p>
          <a:p>
            <a:r>
              <a:rPr lang="en-US" dirty="0"/>
              <a:t>The DBMS is partly responsible for ensuring that every state of the database is a valid state that is, a state that satisfies the structure and constraints specified in the schema. </a:t>
            </a:r>
          </a:p>
          <a:p>
            <a:r>
              <a:rPr lang="en-US" dirty="0"/>
              <a:t>The DBMS stores the descriptions of the schema constructs and constraints also called the meta-data in the DBMS catalog so that DBMS software can refer to the schema whenever it needs to. </a:t>
            </a:r>
          </a:p>
          <a:p>
            <a:endParaRPr lang="en-US" dirty="0"/>
          </a:p>
        </p:txBody>
      </p:sp>
    </p:spTree>
    <p:extLst>
      <p:ext uri="{BB962C8B-B14F-4D97-AF65-F5344CB8AC3E}">
        <p14:creationId xmlns:p14="http://schemas.microsoft.com/office/powerpoint/2010/main" val="526776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78B8D-732A-03BC-AD37-9F874DB8AEB8}"/>
              </a:ext>
            </a:extLst>
          </p:cNvPr>
          <p:cNvSpPr>
            <a:spLocks noGrp="1"/>
          </p:cNvSpPr>
          <p:nvPr>
            <p:ph type="title"/>
          </p:nvPr>
        </p:nvSpPr>
        <p:spPr>
          <a:xfrm>
            <a:off x="623147" y="155788"/>
            <a:ext cx="10644409" cy="846665"/>
          </a:xfrm>
        </p:spPr>
        <p:txBody>
          <a:bodyPr>
            <a:normAutofit fontScale="90000"/>
          </a:bodyPr>
          <a:lstStyle/>
          <a:p>
            <a:r>
              <a:rPr lang="en-US" dirty="0"/>
              <a:t>Three-Schema Architecture and Data Independence</a:t>
            </a:r>
          </a:p>
        </p:txBody>
      </p:sp>
      <p:sp>
        <p:nvSpPr>
          <p:cNvPr id="3" name="Content Placeholder 2">
            <a:extLst>
              <a:ext uri="{FF2B5EF4-FFF2-40B4-BE49-F238E27FC236}">
                <a16:creationId xmlns:a16="http://schemas.microsoft.com/office/drawing/2014/main" id="{E3716F30-ADC9-0AB3-BCB3-7F9451347F76}"/>
              </a:ext>
            </a:extLst>
          </p:cNvPr>
          <p:cNvSpPr>
            <a:spLocks noGrp="1"/>
          </p:cNvSpPr>
          <p:nvPr>
            <p:ph idx="1"/>
          </p:nvPr>
        </p:nvSpPr>
        <p:spPr>
          <a:xfrm>
            <a:off x="453813" y="1429173"/>
            <a:ext cx="11236960" cy="5140960"/>
          </a:xfrm>
        </p:spPr>
        <p:txBody>
          <a:bodyPr/>
          <a:lstStyle/>
          <a:p>
            <a:pPr marL="0" indent="0">
              <a:buNone/>
            </a:pPr>
            <a:r>
              <a:rPr lang="en-US" dirty="0"/>
              <a:t>Three of the four important characteristics of the database approach, are </a:t>
            </a:r>
          </a:p>
          <a:p>
            <a:r>
              <a:rPr lang="en-US" dirty="0"/>
              <a:t>Use of a catalog to store the database description (schema) so as to make it self-describing.</a:t>
            </a:r>
          </a:p>
          <a:p>
            <a:endParaRPr lang="en-US" dirty="0"/>
          </a:p>
          <a:p>
            <a:r>
              <a:rPr lang="en-US" dirty="0"/>
              <a:t> Insulation of programs and data (program-data and program-operation independence).</a:t>
            </a:r>
          </a:p>
          <a:p>
            <a:endParaRPr lang="en-US" dirty="0"/>
          </a:p>
          <a:p>
            <a:r>
              <a:rPr lang="en-US" dirty="0"/>
              <a:t>  Support of multiple user views. </a:t>
            </a:r>
          </a:p>
          <a:p>
            <a:pPr marL="0" indent="0">
              <a:buNone/>
            </a:pPr>
            <a:r>
              <a:rPr lang="en-US" dirty="0"/>
              <a:t>In this section we specify an architecture for database systems, called the three-schema architecture, that was proposed to help achieve and visualize these characteristics. </a:t>
            </a:r>
          </a:p>
        </p:txBody>
      </p:sp>
    </p:spTree>
    <p:extLst>
      <p:ext uri="{BB962C8B-B14F-4D97-AF65-F5344CB8AC3E}">
        <p14:creationId xmlns:p14="http://schemas.microsoft.com/office/powerpoint/2010/main" val="1277057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426A-B027-6300-FC4F-42E8F837BCA8}"/>
              </a:ext>
            </a:extLst>
          </p:cNvPr>
          <p:cNvSpPr>
            <a:spLocks noGrp="1"/>
          </p:cNvSpPr>
          <p:nvPr>
            <p:ph type="title"/>
          </p:nvPr>
        </p:nvSpPr>
        <p:spPr>
          <a:xfrm>
            <a:off x="913795" y="223520"/>
            <a:ext cx="10353761" cy="843281"/>
          </a:xfrm>
        </p:spPr>
        <p:txBody>
          <a:bodyPr>
            <a:normAutofit/>
          </a:bodyPr>
          <a:lstStyle/>
          <a:p>
            <a:r>
              <a:rPr lang="en-US" dirty="0"/>
              <a:t>Three-Schema Architecture </a:t>
            </a:r>
          </a:p>
        </p:txBody>
      </p:sp>
      <p:sp>
        <p:nvSpPr>
          <p:cNvPr id="3" name="Content Placeholder 2">
            <a:extLst>
              <a:ext uri="{FF2B5EF4-FFF2-40B4-BE49-F238E27FC236}">
                <a16:creationId xmlns:a16="http://schemas.microsoft.com/office/drawing/2014/main" id="{ABCD1053-C07E-3EC1-C7A5-3B05619E4888}"/>
              </a:ext>
            </a:extLst>
          </p:cNvPr>
          <p:cNvSpPr>
            <a:spLocks noGrp="1"/>
          </p:cNvSpPr>
          <p:nvPr>
            <p:ph idx="1"/>
          </p:nvPr>
        </p:nvSpPr>
        <p:spPr>
          <a:xfrm>
            <a:off x="913795" y="1273387"/>
            <a:ext cx="10353762" cy="5113866"/>
          </a:xfrm>
        </p:spPr>
        <p:txBody>
          <a:bodyPr>
            <a:normAutofit fontScale="92500" lnSpcReduction="10000"/>
          </a:bodyPr>
          <a:lstStyle/>
          <a:p>
            <a:r>
              <a:rPr lang="en-US" u="sng" dirty="0"/>
              <a:t>The internal level </a:t>
            </a:r>
            <a:r>
              <a:rPr lang="en-US" dirty="0"/>
              <a:t>has an internal schema which describes the physical storage structure of the database. </a:t>
            </a:r>
          </a:p>
          <a:p>
            <a:pPr marL="0" indent="0">
              <a:buNone/>
            </a:pPr>
            <a:r>
              <a:rPr lang="en-US" dirty="0"/>
              <a:t>The internal schema uses a physical data model and describes the complete details of data storage and access paths for the database.</a:t>
            </a:r>
          </a:p>
          <a:p>
            <a:pPr marL="0" indent="0">
              <a:buNone/>
            </a:pPr>
            <a:endParaRPr lang="en-US" dirty="0"/>
          </a:p>
          <a:p>
            <a:r>
              <a:rPr lang="en-US" u="sng" dirty="0"/>
              <a:t>The conceptual level </a:t>
            </a:r>
            <a:r>
              <a:rPr lang="en-US" dirty="0"/>
              <a:t>has a conceptual schema, which describes the structure of the whole database for a community of users. </a:t>
            </a:r>
          </a:p>
          <a:p>
            <a:pPr marL="0" indent="0">
              <a:buNone/>
            </a:pPr>
            <a:r>
              <a:rPr lang="en-US" dirty="0"/>
              <a:t>The conceptual schema hides the details of physical storage structures and concentrates on describing entities, data types, relationships, user operations, and constraints. </a:t>
            </a:r>
          </a:p>
          <a:p>
            <a:pPr marL="0" indent="0">
              <a:buNone/>
            </a:pPr>
            <a:endParaRPr lang="en-US" dirty="0"/>
          </a:p>
          <a:p>
            <a:r>
              <a:rPr lang="en-US" u="sng" dirty="0"/>
              <a:t>The external or view level </a:t>
            </a:r>
            <a:r>
              <a:rPr lang="en-US" dirty="0"/>
              <a:t>includes a number of external schemas or user views.</a:t>
            </a:r>
          </a:p>
          <a:p>
            <a:pPr marL="0" indent="0">
              <a:buNone/>
            </a:pPr>
            <a:r>
              <a:rPr lang="en-US" dirty="0"/>
              <a:t> Each external schema describes the part of the database that a particular user group is interested in and hides the rest of the database from that user group. </a:t>
            </a:r>
          </a:p>
        </p:txBody>
      </p:sp>
    </p:spTree>
    <p:extLst>
      <p:ext uri="{BB962C8B-B14F-4D97-AF65-F5344CB8AC3E}">
        <p14:creationId xmlns:p14="http://schemas.microsoft.com/office/powerpoint/2010/main" val="545683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973812-BFA5-01CF-3181-A16E80079532}"/>
              </a:ext>
            </a:extLst>
          </p:cNvPr>
          <p:cNvPicPr>
            <a:picLocks noChangeAspect="1"/>
          </p:cNvPicPr>
          <p:nvPr/>
        </p:nvPicPr>
        <p:blipFill>
          <a:blip r:embed="rId2"/>
          <a:stretch>
            <a:fillRect/>
          </a:stretch>
        </p:blipFill>
        <p:spPr>
          <a:xfrm>
            <a:off x="94827" y="88053"/>
            <a:ext cx="12015893" cy="6678507"/>
          </a:xfrm>
          <a:prstGeom prst="rect">
            <a:avLst/>
          </a:prstGeom>
        </p:spPr>
      </p:pic>
    </p:spTree>
    <p:extLst>
      <p:ext uri="{BB962C8B-B14F-4D97-AF65-F5344CB8AC3E}">
        <p14:creationId xmlns:p14="http://schemas.microsoft.com/office/powerpoint/2010/main" val="683526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FE91F-D560-56F9-2375-51367774B985}"/>
              </a:ext>
            </a:extLst>
          </p:cNvPr>
          <p:cNvSpPr>
            <a:spLocks noGrp="1"/>
          </p:cNvSpPr>
          <p:nvPr>
            <p:ph type="title"/>
          </p:nvPr>
        </p:nvSpPr>
        <p:spPr>
          <a:xfrm>
            <a:off x="913795" y="216748"/>
            <a:ext cx="10353761" cy="697652"/>
          </a:xfrm>
        </p:spPr>
        <p:txBody>
          <a:bodyPr/>
          <a:lstStyle/>
          <a:p>
            <a:r>
              <a:rPr lang="en-US" dirty="0"/>
              <a:t>Data Independence</a:t>
            </a:r>
          </a:p>
        </p:txBody>
      </p:sp>
      <p:sp>
        <p:nvSpPr>
          <p:cNvPr id="3" name="Content Placeholder 2">
            <a:extLst>
              <a:ext uri="{FF2B5EF4-FFF2-40B4-BE49-F238E27FC236}">
                <a16:creationId xmlns:a16="http://schemas.microsoft.com/office/drawing/2014/main" id="{F6F9CD5A-D8BA-9B11-56E0-9E1EFAC1ECC8}"/>
              </a:ext>
            </a:extLst>
          </p:cNvPr>
          <p:cNvSpPr>
            <a:spLocks noGrp="1"/>
          </p:cNvSpPr>
          <p:nvPr>
            <p:ph idx="1"/>
          </p:nvPr>
        </p:nvSpPr>
        <p:spPr>
          <a:xfrm>
            <a:off x="514773" y="1253067"/>
            <a:ext cx="11236960" cy="5093546"/>
          </a:xfrm>
        </p:spPr>
        <p:txBody>
          <a:bodyPr/>
          <a:lstStyle/>
          <a:p>
            <a:pPr marL="0" indent="0">
              <a:buNone/>
            </a:pPr>
            <a:r>
              <a:rPr lang="en-US" dirty="0"/>
              <a:t>The three-schema architecture can be used to further explain the concept of data independence, which can be defined as the capacity to change the schema at one level of a database system without having to change the schema at the next higher level. </a:t>
            </a:r>
          </a:p>
          <a:p>
            <a:pPr marL="0" indent="0">
              <a:buNone/>
            </a:pPr>
            <a:r>
              <a:rPr lang="en-US" dirty="0"/>
              <a:t>We have two types of data independence.</a:t>
            </a:r>
          </a:p>
          <a:p>
            <a:pPr marL="0" indent="0">
              <a:buNone/>
            </a:pPr>
            <a:endParaRPr lang="en-US" dirty="0"/>
          </a:p>
          <a:p>
            <a:r>
              <a:rPr lang="en-US" u="sng" dirty="0"/>
              <a:t>LOGICAL DATA INDEPENDENCE</a:t>
            </a:r>
          </a:p>
          <a:p>
            <a:pPr marL="0" indent="0">
              <a:buNone/>
            </a:pPr>
            <a:r>
              <a:rPr lang="en-US" dirty="0"/>
              <a:t> Is the capacity to change the conceptual schema without having to change external schemas or application programs. </a:t>
            </a:r>
          </a:p>
          <a:p>
            <a:pPr marL="0" indent="0">
              <a:buNone/>
            </a:pPr>
            <a:r>
              <a:rPr lang="en-US" dirty="0"/>
              <a:t> Architecture may change the conceptual schema to expand the database (by adding a record type or data item), to change constraints, or to reduce the database (by removing a record type or data item).</a:t>
            </a:r>
          </a:p>
        </p:txBody>
      </p:sp>
    </p:spTree>
    <p:extLst>
      <p:ext uri="{BB962C8B-B14F-4D97-AF65-F5344CB8AC3E}">
        <p14:creationId xmlns:p14="http://schemas.microsoft.com/office/powerpoint/2010/main" val="368443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57809-26C3-D914-E4D8-EFB111F26E2F}"/>
              </a:ext>
            </a:extLst>
          </p:cNvPr>
          <p:cNvSpPr>
            <a:spLocks noGrp="1"/>
          </p:cNvSpPr>
          <p:nvPr>
            <p:ph type="title"/>
          </p:nvPr>
        </p:nvSpPr>
        <p:spPr>
          <a:xfrm>
            <a:off x="913795" y="216747"/>
            <a:ext cx="10353761" cy="850053"/>
          </a:xfrm>
        </p:spPr>
        <p:txBody>
          <a:bodyPr/>
          <a:lstStyle/>
          <a:p>
            <a:r>
              <a:rPr lang="en-US" dirty="0"/>
              <a:t>Data Independence</a:t>
            </a:r>
          </a:p>
        </p:txBody>
      </p:sp>
      <p:sp>
        <p:nvSpPr>
          <p:cNvPr id="3" name="Content Placeholder 2">
            <a:extLst>
              <a:ext uri="{FF2B5EF4-FFF2-40B4-BE49-F238E27FC236}">
                <a16:creationId xmlns:a16="http://schemas.microsoft.com/office/drawing/2014/main" id="{49D0F6D2-BE5F-BE75-7AEB-0E58C7DE09CD}"/>
              </a:ext>
            </a:extLst>
          </p:cNvPr>
          <p:cNvSpPr>
            <a:spLocks noGrp="1"/>
          </p:cNvSpPr>
          <p:nvPr>
            <p:ph idx="1"/>
          </p:nvPr>
        </p:nvSpPr>
        <p:spPr>
          <a:xfrm>
            <a:off x="913795" y="1490133"/>
            <a:ext cx="10353762" cy="4951307"/>
          </a:xfrm>
        </p:spPr>
        <p:txBody>
          <a:bodyPr/>
          <a:lstStyle/>
          <a:p>
            <a:r>
              <a:rPr lang="en-US" u="sng" dirty="0"/>
              <a:t>PHYSICAL DATA INDEPENDENCE </a:t>
            </a:r>
          </a:p>
          <a:p>
            <a:pPr marL="0" indent="0">
              <a:buNone/>
            </a:pPr>
            <a:r>
              <a:rPr lang="en-US" dirty="0"/>
              <a:t>Is the capacity to change the internal schema without having to change the conceptual schema. Hence, the external schemas need not be changed as well. </a:t>
            </a:r>
          </a:p>
          <a:p>
            <a:pPr marL="0" indent="0">
              <a:buNone/>
            </a:pPr>
            <a:r>
              <a:rPr lang="en-US" dirty="0"/>
              <a:t>Changes to the internal schema may be needed because some physical files were reorganized for example, by creating additional access structures to improve the performance of retrieval or update. </a:t>
            </a:r>
          </a:p>
        </p:txBody>
      </p:sp>
    </p:spTree>
    <p:extLst>
      <p:ext uri="{BB962C8B-B14F-4D97-AF65-F5344CB8AC3E}">
        <p14:creationId xmlns:p14="http://schemas.microsoft.com/office/powerpoint/2010/main" val="3496123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30C33-4B39-A5D2-20BC-8D26304530E1}"/>
              </a:ext>
            </a:extLst>
          </p:cNvPr>
          <p:cNvSpPr>
            <a:spLocks noGrp="1"/>
          </p:cNvSpPr>
          <p:nvPr>
            <p:ph type="title"/>
          </p:nvPr>
        </p:nvSpPr>
        <p:spPr>
          <a:xfrm>
            <a:off x="913795" y="209974"/>
            <a:ext cx="10353761" cy="856826"/>
          </a:xfrm>
        </p:spPr>
        <p:txBody>
          <a:bodyPr/>
          <a:lstStyle/>
          <a:p>
            <a:r>
              <a:rPr lang="en-US" dirty="0"/>
              <a:t>Database Languages and Interfaces</a:t>
            </a:r>
          </a:p>
        </p:txBody>
      </p:sp>
      <p:sp>
        <p:nvSpPr>
          <p:cNvPr id="3" name="Content Placeholder 2">
            <a:extLst>
              <a:ext uri="{FF2B5EF4-FFF2-40B4-BE49-F238E27FC236}">
                <a16:creationId xmlns:a16="http://schemas.microsoft.com/office/drawing/2014/main" id="{E66F583E-B530-706C-C321-1EC4A7B58693}"/>
              </a:ext>
            </a:extLst>
          </p:cNvPr>
          <p:cNvSpPr>
            <a:spLocks noGrp="1"/>
          </p:cNvSpPr>
          <p:nvPr>
            <p:ph idx="1"/>
          </p:nvPr>
        </p:nvSpPr>
        <p:spPr>
          <a:xfrm>
            <a:off x="562186" y="1347893"/>
            <a:ext cx="11101493" cy="5147734"/>
          </a:xfrm>
        </p:spPr>
        <p:txBody>
          <a:bodyPr/>
          <a:lstStyle/>
          <a:p>
            <a:pPr marL="0" indent="0">
              <a:buNone/>
            </a:pPr>
            <a:r>
              <a:rPr lang="en-US" dirty="0"/>
              <a:t>Once the design of a database is completed and a DBMS is chosen to implement the database, the first step is to specify conceptual and internal schemas for the data base and any mappings between the two using the  database languages. These includes:</a:t>
            </a:r>
          </a:p>
          <a:p>
            <a:pPr marL="0" indent="0">
              <a:buNone/>
            </a:pPr>
            <a:endParaRPr lang="en-US" dirty="0"/>
          </a:p>
          <a:p>
            <a:r>
              <a:rPr lang="en-US" dirty="0"/>
              <a:t>DATA DEFINITION LANGUAGE (DDL)</a:t>
            </a:r>
          </a:p>
          <a:p>
            <a:pPr marL="0" indent="0">
              <a:buNone/>
            </a:pPr>
            <a:r>
              <a:rPr lang="en-US" dirty="0"/>
              <a:t>Is used by the DBA and by database designers to define both schemas. </a:t>
            </a:r>
            <a:r>
              <a:rPr lang="en-US" dirty="0">
                <a:effectLst/>
              </a:rPr>
              <a:t>It is a subset of SQL (Structured Query Language) used to define, modify, and delete database structures or schemas. </a:t>
            </a:r>
          </a:p>
          <a:p>
            <a:pPr marL="0" indent="0">
              <a:buNone/>
            </a:pPr>
            <a:endParaRPr lang="en-US" dirty="0">
              <a:effectLst/>
            </a:endParaRPr>
          </a:p>
          <a:p>
            <a:pPr marL="0" indent="0">
              <a:buNone/>
            </a:pPr>
            <a:r>
              <a:rPr lang="en-US" dirty="0">
                <a:effectLst/>
              </a:rPr>
              <a:t>Some DDL Statements includes:</a:t>
            </a:r>
          </a:p>
          <a:p>
            <a:pPr marL="0" indent="0">
              <a:buNone/>
            </a:pPr>
            <a:endParaRPr lang="en-US" dirty="0"/>
          </a:p>
        </p:txBody>
      </p:sp>
    </p:spTree>
    <p:extLst>
      <p:ext uri="{BB962C8B-B14F-4D97-AF65-F5344CB8AC3E}">
        <p14:creationId xmlns:p14="http://schemas.microsoft.com/office/powerpoint/2010/main" val="2585868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C3A38-260C-06C9-5496-D23A5ECA292B}"/>
              </a:ext>
            </a:extLst>
          </p:cNvPr>
          <p:cNvSpPr>
            <a:spLocks noGrp="1"/>
          </p:cNvSpPr>
          <p:nvPr>
            <p:ph type="title"/>
          </p:nvPr>
        </p:nvSpPr>
        <p:spPr>
          <a:xfrm>
            <a:off x="913795" y="216748"/>
            <a:ext cx="10353761" cy="785705"/>
          </a:xfrm>
        </p:spPr>
        <p:txBody>
          <a:bodyPr/>
          <a:lstStyle/>
          <a:p>
            <a:r>
              <a:rPr lang="en-US" dirty="0"/>
              <a:t>Database Languages and Interfaces</a:t>
            </a:r>
          </a:p>
        </p:txBody>
      </p:sp>
      <p:sp>
        <p:nvSpPr>
          <p:cNvPr id="3" name="Content Placeholder 2">
            <a:extLst>
              <a:ext uri="{FF2B5EF4-FFF2-40B4-BE49-F238E27FC236}">
                <a16:creationId xmlns:a16="http://schemas.microsoft.com/office/drawing/2014/main" id="{C1DD9F24-776B-2EDC-300F-41C78CC6BF96}"/>
              </a:ext>
            </a:extLst>
          </p:cNvPr>
          <p:cNvSpPr>
            <a:spLocks noGrp="1"/>
          </p:cNvSpPr>
          <p:nvPr>
            <p:ph idx="1"/>
          </p:nvPr>
        </p:nvSpPr>
        <p:spPr>
          <a:xfrm>
            <a:off x="501226" y="1280159"/>
            <a:ext cx="11203094" cy="5249333"/>
          </a:xfrm>
        </p:spPr>
        <p:txBody>
          <a:bodyPr>
            <a:normAutofit fontScale="85000" lnSpcReduction="10000"/>
          </a:bodyPr>
          <a:lstStyle/>
          <a:p>
            <a:r>
              <a:rPr lang="en-US" b="1" dirty="0">
                <a:effectLst/>
              </a:rPr>
              <a:t>CREATE</a:t>
            </a:r>
            <a:r>
              <a:rPr lang="en-US" dirty="0">
                <a:effectLst/>
              </a:rPr>
              <a:t>: Used to create the database or its objects (tables, views, indexes, etc.). </a:t>
            </a:r>
          </a:p>
          <a:p>
            <a:endParaRPr lang="en-US" dirty="0">
              <a:effectLst/>
            </a:endParaRPr>
          </a:p>
          <a:p>
            <a:r>
              <a:rPr lang="en-US" b="1" dirty="0">
                <a:effectLst/>
              </a:rPr>
              <a:t>ALTER</a:t>
            </a:r>
            <a:r>
              <a:rPr lang="en-US" dirty="0">
                <a:effectLst/>
              </a:rPr>
              <a:t>: Used to modify the structure of an existing database object. </a:t>
            </a:r>
          </a:p>
          <a:p>
            <a:endParaRPr lang="en-US" dirty="0">
              <a:effectLst/>
            </a:endParaRPr>
          </a:p>
          <a:p>
            <a:r>
              <a:rPr lang="en-US" b="1" dirty="0">
                <a:effectLst/>
              </a:rPr>
              <a:t>DROP</a:t>
            </a:r>
            <a:r>
              <a:rPr lang="en-US" dirty="0">
                <a:effectLst/>
              </a:rPr>
              <a:t>: Used to delete an existing object entirely from the database, including all its data and structure. </a:t>
            </a:r>
          </a:p>
          <a:p>
            <a:endParaRPr lang="en-US" dirty="0">
              <a:effectLst/>
            </a:endParaRPr>
          </a:p>
          <a:p>
            <a:r>
              <a:rPr lang="en-US" b="1" dirty="0">
                <a:effectLst/>
              </a:rPr>
              <a:t>TRUNCATE</a:t>
            </a:r>
            <a:r>
              <a:rPr lang="en-US" dirty="0">
                <a:effectLst/>
              </a:rPr>
              <a:t>: Used to quickly remove all records from a table, but unlike DROP, it preserves the table's structure for future use. The space allocated for the records is also removed, making it faster than a DELETE operation.</a:t>
            </a:r>
          </a:p>
          <a:p>
            <a:endParaRPr lang="en-US" dirty="0">
              <a:effectLst/>
            </a:endParaRPr>
          </a:p>
          <a:p>
            <a:r>
              <a:rPr lang="en-US" b="1" dirty="0">
                <a:effectLst/>
              </a:rPr>
              <a:t>RENAME</a:t>
            </a:r>
            <a:r>
              <a:rPr lang="en-US" dirty="0">
                <a:effectLst/>
              </a:rPr>
              <a:t>: Used to change the name of a database object, such as a table.</a:t>
            </a:r>
          </a:p>
          <a:p>
            <a:endParaRPr lang="en-US" dirty="0">
              <a:effectLst/>
            </a:endParaRPr>
          </a:p>
          <a:p>
            <a:r>
              <a:rPr lang="en-US" b="1" dirty="0">
                <a:effectLst/>
              </a:rPr>
              <a:t>COMMENT</a:t>
            </a:r>
            <a:r>
              <a:rPr lang="en-US" dirty="0">
                <a:effectLst/>
              </a:rPr>
              <a:t>: Used to add comments to the data dictionary to provide descriptions for tables or columns</a:t>
            </a:r>
          </a:p>
          <a:p>
            <a:endParaRPr lang="en-US" dirty="0"/>
          </a:p>
        </p:txBody>
      </p:sp>
    </p:spTree>
    <p:extLst>
      <p:ext uri="{BB962C8B-B14F-4D97-AF65-F5344CB8AC3E}">
        <p14:creationId xmlns:p14="http://schemas.microsoft.com/office/powerpoint/2010/main" val="2112218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20DE-AAA4-242A-92AC-825137AF2E13}"/>
              </a:ext>
            </a:extLst>
          </p:cNvPr>
          <p:cNvSpPr>
            <a:spLocks noGrp="1"/>
          </p:cNvSpPr>
          <p:nvPr>
            <p:ph type="title"/>
          </p:nvPr>
        </p:nvSpPr>
        <p:spPr>
          <a:xfrm>
            <a:off x="913795" y="81280"/>
            <a:ext cx="10353761" cy="914400"/>
          </a:xfrm>
        </p:spPr>
        <p:txBody>
          <a:bodyPr/>
          <a:lstStyle/>
          <a:p>
            <a:r>
              <a:rPr lang="en-US" dirty="0"/>
              <a:t>Database Languages and Interfaces</a:t>
            </a:r>
          </a:p>
        </p:txBody>
      </p:sp>
      <p:sp>
        <p:nvSpPr>
          <p:cNvPr id="3" name="Content Placeholder 2">
            <a:extLst>
              <a:ext uri="{FF2B5EF4-FFF2-40B4-BE49-F238E27FC236}">
                <a16:creationId xmlns:a16="http://schemas.microsoft.com/office/drawing/2014/main" id="{8AF438F6-D8EB-309B-718F-AB2AE5893A4F}"/>
              </a:ext>
            </a:extLst>
          </p:cNvPr>
          <p:cNvSpPr>
            <a:spLocks noGrp="1"/>
          </p:cNvSpPr>
          <p:nvPr>
            <p:ph idx="1"/>
          </p:nvPr>
        </p:nvSpPr>
        <p:spPr>
          <a:xfrm>
            <a:off x="575732" y="1320799"/>
            <a:ext cx="11067627" cy="5289973"/>
          </a:xfrm>
        </p:spPr>
        <p:txBody>
          <a:bodyPr/>
          <a:lstStyle/>
          <a:p>
            <a:r>
              <a:rPr lang="en-US" u="sng" dirty="0"/>
              <a:t>DATA MANIPULATION LANGUAGE </a:t>
            </a:r>
          </a:p>
          <a:p>
            <a:pPr marL="0" indent="0">
              <a:buNone/>
            </a:pPr>
            <a:r>
              <a:rPr lang="en-US" dirty="0"/>
              <a:t>It helps with typical manipulations such as retrieval, insertion, deletion, and modification of the data. </a:t>
            </a:r>
          </a:p>
          <a:p>
            <a:pPr marL="0" indent="0">
              <a:buNone/>
            </a:pPr>
            <a:r>
              <a:rPr lang="en-US" dirty="0">
                <a:effectLst/>
              </a:rPr>
              <a:t>Data Manipulation Language (DML) is a class of SQL statements that are used to query, edit, add and delete row-level data from database tables or views. </a:t>
            </a:r>
          </a:p>
          <a:p>
            <a:pPr marL="0" indent="0">
              <a:buNone/>
            </a:pPr>
            <a:r>
              <a:rPr lang="en-US" dirty="0">
                <a:effectLst/>
              </a:rPr>
              <a:t>The DML Statements includes:</a:t>
            </a:r>
          </a:p>
          <a:p>
            <a:r>
              <a:rPr lang="en-US" dirty="0">
                <a:effectLst/>
              </a:rPr>
              <a:t>SELECT </a:t>
            </a:r>
          </a:p>
          <a:p>
            <a:r>
              <a:rPr lang="en-US" dirty="0">
                <a:effectLst/>
              </a:rPr>
              <a:t>INSERT </a:t>
            </a:r>
          </a:p>
          <a:p>
            <a:r>
              <a:rPr lang="en-US" dirty="0">
                <a:effectLst/>
              </a:rPr>
              <a:t>DELETE </a:t>
            </a:r>
          </a:p>
          <a:p>
            <a:r>
              <a:rPr lang="en-US" dirty="0">
                <a:effectLst/>
              </a:rPr>
              <a:t> UPDATE</a:t>
            </a:r>
            <a:endParaRPr lang="en-US" u="sng" dirty="0"/>
          </a:p>
        </p:txBody>
      </p:sp>
    </p:spTree>
    <p:extLst>
      <p:ext uri="{BB962C8B-B14F-4D97-AF65-F5344CB8AC3E}">
        <p14:creationId xmlns:p14="http://schemas.microsoft.com/office/powerpoint/2010/main" val="190844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1EDB-B248-8C55-2B8F-81650A8E679C}"/>
              </a:ext>
            </a:extLst>
          </p:cNvPr>
          <p:cNvSpPr>
            <a:spLocks noGrp="1"/>
          </p:cNvSpPr>
          <p:nvPr>
            <p:ph type="title"/>
          </p:nvPr>
        </p:nvSpPr>
        <p:spPr>
          <a:xfrm>
            <a:off x="913795" y="352214"/>
            <a:ext cx="10353761" cy="1144693"/>
          </a:xfrm>
        </p:spPr>
        <p:txBody>
          <a:bodyPr/>
          <a:lstStyle/>
          <a:p>
            <a:r>
              <a:rPr lang="en-US" dirty="0"/>
              <a:t>ASSIGNMENT 1</a:t>
            </a:r>
          </a:p>
        </p:txBody>
      </p:sp>
      <p:sp>
        <p:nvSpPr>
          <p:cNvPr id="3" name="Content Placeholder 2">
            <a:extLst>
              <a:ext uri="{FF2B5EF4-FFF2-40B4-BE49-F238E27FC236}">
                <a16:creationId xmlns:a16="http://schemas.microsoft.com/office/drawing/2014/main" id="{C60865AE-C922-2E33-01EB-4E0F2C898954}"/>
              </a:ext>
            </a:extLst>
          </p:cNvPr>
          <p:cNvSpPr>
            <a:spLocks noGrp="1"/>
          </p:cNvSpPr>
          <p:nvPr>
            <p:ph idx="1"/>
          </p:nvPr>
        </p:nvSpPr>
        <p:spPr>
          <a:xfrm>
            <a:off x="839893" y="1828800"/>
            <a:ext cx="9130455" cy="3962400"/>
          </a:xfrm>
        </p:spPr>
        <p:txBody>
          <a:bodyPr>
            <a:normAutofit/>
          </a:bodyPr>
          <a:lstStyle/>
          <a:p>
            <a:pPr marL="0" indent="0">
              <a:buNone/>
            </a:pPr>
            <a:r>
              <a:rPr lang="en-US" sz="2800" dirty="0"/>
              <a:t>READ AND SUMMARIZE THE CENTRALIZED AND CLIENT-SERVER ARCHITECTURE OF DBMS WITH THE AID OF DIAGRAMS.</a:t>
            </a:r>
          </a:p>
          <a:p>
            <a:pPr marL="0" indent="0">
              <a:buNone/>
            </a:pPr>
            <a:r>
              <a:rPr lang="en-US" sz="2800" dirty="0"/>
              <a:t>NB. NOT MORE THAN 1 PAGE</a:t>
            </a:r>
          </a:p>
          <a:p>
            <a:pPr marL="0" indent="0">
              <a:buNone/>
            </a:pPr>
            <a:r>
              <a:rPr lang="en-US" sz="2800" dirty="0"/>
              <a:t>SUBMISSION DATE: 6</a:t>
            </a:r>
            <a:r>
              <a:rPr lang="en-US" sz="2800" baseline="30000" dirty="0"/>
              <a:t>TH</a:t>
            </a:r>
            <a:r>
              <a:rPr lang="en-US" sz="2800" dirty="0"/>
              <a:t> FEB,2026</a:t>
            </a:r>
          </a:p>
        </p:txBody>
      </p:sp>
    </p:spTree>
    <p:extLst>
      <p:ext uri="{BB962C8B-B14F-4D97-AF65-F5344CB8AC3E}">
        <p14:creationId xmlns:p14="http://schemas.microsoft.com/office/powerpoint/2010/main" val="35317113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191</TotalTime>
  <Words>1476</Words>
  <Application>Microsoft Office PowerPoint</Application>
  <PresentationFormat>Widescreen</PresentationFormat>
  <Paragraphs>110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Bookman Old Style</vt:lpstr>
      <vt:lpstr>Rockwell</vt:lpstr>
      <vt:lpstr>Damask</vt:lpstr>
      <vt:lpstr>Database System Concepts and Architecture</vt:lpstr>
      <vt:lpstr>INTODUCTION</vt:lpstr>
      <vt:lpstr>Data Models, Schemas, and Instances</vt:lpstr>
      <vt:lpstr>Categories of Data Models</vt:lpstr>
      <vt:lpstr>Categories of Data Models</vt:lpstr>
      <vt:lpstr>Schemas, Instances, and Database State</vt:lpstr>
      <vt:lpstr>PowerPoint Presentation</vt:lpstr>
      <vt:lpstr>Schemas, Instances, and Database State</vt:lpstr>
      <vt:lpstr>Three-Schema Architecture and Data Independence</vt:lpstr>
      <vt:lpstr>Three-Schema Architecture </vt:lpstr>
      <vt:lpstr>PowerPoint Presentation</vt:lpstr>
      <vt:lpstr>Data Independence</vt:lpstr>
      <vt:lpstr>Data Independence</vt:lpstr>
      <vt:lpstr>Database Languages and Interfaces</vt:lpstr>
      <vt:lpstr>Database Languages and Interfaces</vt:lpstr>
      <vt:lpstr>Database Languages and Interfaces</vt:lpstr>
      <vt:lpstr>ASSIGNMENT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4</cp:revision>
  <dcterms:created xsi:type="dcterms:W3CDTF">2026-02-01T20:20:52Z</dcterms:created>
  <dcterms:modified xsi:type="dcterms:W3CDTF">2026-02-02T11:28:05Z</dcterms:modified>
</cp:coreProperties>
</file>